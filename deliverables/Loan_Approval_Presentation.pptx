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project. One line: we built an ML model that predicts if a loan application should be approved or rejected.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problem in our own words, then the four things we wrote down before coding. Then why it is classification: the answer is Approved or Rejected, not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took a public dataset instead of making our own because it already had all the inputs from the problem statement. Point out the imbalance: 69% approved.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flow quickly. Mention that preprocessing and visualization are highlighted as our teacher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row explain the reason, not just the step. Then the new features: income alone didn't separate approved from rejected, so we made repayment-based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graph answers one question. Credit history: strongest factor, correlation 0.54 with Loan_Status. Income: overlap means income alone does not decide approval. More charts (target, outliers, correlation heatmap) are in the notebook and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these three models. All beat the 69% baseline. Random Forest is best on accuracy, F1 and cross-validation. Precision protects the bank, recall protects good customers. Main weakness: 15 risky applicants wrongly approved.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happened, why, and so what. Be honest about the limitations. End with the conclusion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548640" y="1051560"/>
            <a:ext cx="11064240" cy="0"/>
          </a:xfrm>
          <a:prstGeom prst="line">
            <a:avLst/>
          </a:prstGeom>
          <a:noFill/>
          <a:ln w="12700">
            <a:solidFill>
              <a:srgbClr val="C8D0D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Mini Project 1 | Loan Approval Prediction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gamjotdhingra/mini-project-1.g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AI Mini Project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058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Loan Approval Prediction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Predicting whether an HDFC Bank loan application should be Approved or Rejected using machine learning (classification)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GitHub: </a:t>
            </a:r>
            <a:pPr indent="0" marL="0">
              <a:buNone/>
            </a:pPr>
            <a:r>
              <a:rPr lang="en-US" sz="14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https://github.com/agamjotdhingra/mini-project-1.git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103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Submitted by</a:t>
            </a:r>
            <a:endParaRPr lang="en-US" sz="1600" dirty="0"/>
          </a:p>
        </p:txBody>
      </p:sp>
      <p:graphicFrame>
        <p:nvGraphicFramePr>
          <p:cNvPr id="2" name="tea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560320"/>
          <a:ext cx="49377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 No.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Agamjot Singh Dhingra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1025150317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Nikunj Singla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1025150306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Panshul Sharma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1025150302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Atharv Arora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1025150336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Aayush Goyal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1025150337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problem are we solving?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Banks get a lot of loan applications and checking each one by hand takes time. HDFC Bank wants to use past data to decide faster. So we tried to build a model that looks at an applicant's details and predicts if the loan will be approved.</a:t>
            </a:r>
            <a:endParaRPr lang="en-US" sz="1600" dirty="0"/>
          </a:p>
        </p:txBody>
      </p:sp>
      <p:graphicFrame>
        <p:nvGraphicFramePr>
          <p:cNvPr id="3" name="proble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23160"/>
          <a:ext cx="6949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loan checking is slow and not always consistent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 Approved / Rejected for a new loan 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Income, co-applicant income, loan amount, loan term, credit history, education, employment, marital status, dependents, property area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Loan_Status: Y (Approved) or N (Rejected)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ype-box"/>
          <p:cNvSpPr/>
          <p:nvPr/>
        </p:nvSpPr>
        <p:spPr>
          <a:xfrm>
            <a:off x="7863840" y="2423160"/>
            <a:ext cx="3749040" cy="2560320"/>
          </a:xfrm>
          <a:prstGeom prst="rect">
            <a:avLst/>
          </a:prstGeom>
          <a:solidFill>
            <a:schemeClr val="bg2"/>
          </a:solidFill>
          <a:ln w="9525">
            <a:solidFill>
              <a:srgbClr val="C8D0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9244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 what type of ML problem is it?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32918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Output is a category, not a number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We already have the answers for old applications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 it is supervised classification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57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Target variable: Loan_Status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Our dataset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Loan Prediction dataset from Kaggle (Analytics Vidhya)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614 past applications, 13 columns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422 approved and 192 rejected, so about 69% are approved (imbalanced)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duplicate rows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7 columns had missing values. Credit_History had the most (50)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03504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First few rows (some columns):</a:t>
            </a:r>
            <a:endParaRPr lang="en-US" sz="1400" dirty="0"/>
          </a:p>
        </p:txBody>
      </p:sp>
      <p:graphicFrame>
        <p:nvGraphicFramePr>
          <p:cNvPr id="4" name="head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73736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777240"/>
                <a:gridCol w="822960"/>
                <a:gridCol w="100584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Co-income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35040" y="42062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Loan amount is in thousands. Notice the NaN in the first row, which is one of the missing values we had to handle.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Before using it we checked: columns, target, number of records, missing values, data types and outliers.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How we did the project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548640" y="1554480"/>
            <a:ext cx="1965960" cy="914400"/>
          </a:xfrm>
          <a:prstGeom prst="rect">
            <a:avLst/>
          </a:prstGeom>
          <a:solidFill>
            <a:schemeClr val="bg1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1. Problem definition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514600" y="2011680"/>
            <a:ext cx="31089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6" name="step-2"/>
          <p:cNvSpPr/>
          <p:nvPr/>
        </p:nvSpPr>
        <p:spPr>
          <a:xfrm>
            <a:off x="2825496" y="1554480"/>
            <a:ext cx="1965960" cy="914400"/>
          </a:xfrm>
          <a:prstGeom prst="rect">
            <a:avLst/>
          </a:prstGeom>
          <a:solidFill>
            <a:schemeClr val="bg1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6936" y="15544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2. Data collection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91456" y="2011680"/>
            <a:ext cx="31089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9" name="step-3"/>
          <p:cNvSpPr/>
          <p:nvPr/>
        </p:nvSpPr>
        <p:spPr>
          <a:xfrm>
            <a:off x="5102352" y="1554480"/>
            <a:ext cx="1965960" cy="914400"/>
          </a:xfrm>
          <a:prstGeom prst="rect">
            <a:avLst/>
          </a:prstGeom>
          <a:solidFill>
            <a:schemeClr val="bg1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93792" y="15544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3. Data understanding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68312" y="2011680"/>
            <a:ext cx="31089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12" name="step-4"/>
          <p:cNvSpPr/>
          <p:nvPr/>
        </p:nvSpPr>
        <p:spPr>
          <a:xfrm>
            <a:off x="7379208" y="1554480"/>
            <a:ext cx="1965960" cy="914400"/>
          </a:xfrm>
          <a:prstGeom prst="rect">
            <a:avLst/>
          </a:prstGeom>
          <a:solidFill>
            <a:schemeClr val="accent2"/>
          </a:solidFill>
          <a:ln w="15875">
            <a:solidFill>
              <a:srgbClr val="D962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70648" y="15544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4. Preprocessing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345168" y="2011680"/>
            <a:ext cx="31089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15" name="step-5"/>
          <p:cNvSpPr/>
          <p:nvPr/>
        </p:nvSpPr>
        <p:spPr>
          <a:xfrm>
            <a:off x="9656064" y="1554480"/>
            <a:ext cx="1965960" cy="914400"/>
          </a:xfrm>
          <a:prstGeom prst="rect">
            <a:avLst/>
          </a:prstGeom>
          <a:solidFill>
            <a:schemeClr val="accent2"/>
          </a:solidFill>
          <a:ln w="15875">
            <a:solidFill>
              <a:srgbClr val="D962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47504" y="15544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5. Visualization / EDA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0639044" y="2468880"/>
            <a:ext cx="0" cy="109728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18" name="step-6"/>
          <p:cNvSpPr/>
          <p:nvPr/>
        </p:nvSpPr>
        <p:spPr>
          <a:xfrm>
            <a:off x="9656064" y="3566160"/>
            <a:ext cx="1965960" cy="914400"/>
          </a:xfrm>
          <a:prstGeom prst="rect">
            <a:avLst/>
          </a:prstGeom>
          <a:solidFill>
            <a:schemeClr val="bg1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747504" y="35661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6. Feature selection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345168" y="4023360"/>
            <a:ext cx="31089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headEnd type="triangle"/>
          </a:ln>
        </p:spPr>
      </p:sp>
      <p:sp>
        <p:nvSpPr>
          <p:cNvPr id="21" name="step-7"/>
          <p:cNvSpPr/>
          <p:nvPr/>
        </p:nvSpPr>
        <p:spPr>
          <a:xfrm>
            <a:off x="7379208" y="3566160"/>
            <a:ext cx="1965960" cy="914400"/>
          </a:xfrm>
          <a:prstGeom prst="rect">
            <a:avLst/>
          </a:prstGeom>
          <a:solidFill>
            <a:schemeClr val="bg1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70648" y="35661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7. Model development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068312" y="4023360"/>
            <a:ext cx="31089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headEnd type="triangle"/>
          </a:ln>
        </p:spPr>
      </p:sp>
      <p:sp>
        <p:nvSpPr>
          <p:cNvPr id="24" name="step-8"/>
          <p:cNvSpPr/>
          <p:nvPr/>
        </p:nvSpPr>
        <p:spPr>
          <a:xfrm>
            <a:off x="5102352" y="3566160"/>
            <a:ext cx="1965960" cy="914400"/>
          </a:xfrm>
          <a:prstGeom prst="rect">
            <a:avLst/>
          </a:prstGeom>
          <a:solidFill>
            <a:schemeClr val="bg1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3792" y="35661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8. Evaluation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791456" y="4023360"/>
            <a:ext cx="31089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headEnd type="triangle"/>
          </a:ln>
        </p:spPr>
      </p:sp>
      <p:sp>
        <p:nvSpPr>
          <p:cNvPr id="27" name="step-9"/>
          <p:cNvSpPr/>
          <p:nvPr/>
        </p:nvSpPr>
        <p:spPr>
          <a:xfrm>
            <a:off x="2825496" y="3566160"/>
            <a:ext cx="1965960" cy="914400"/>
          </a:xfrm>
          <a:prstGeom prst="rect">
            <a:avLst/>
          </a:prstGeom>
          <a:solidFill>
            <a:schemeClr val="bg1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16936" y="35661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9. Interpretation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514600" y="4023360"/>
            <a:ext cx="31089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headEnd type="triangle"/>
          </a:ln>
        </p:spPr>
      </p:sp>
      <p:sp>
        <p:nvSpPr>
          <p:cNvPr id="30" name="step-10"/>
          <p:cNvSpPr/>
          <p:nvPr/>
        </p:nvSpPr>
        <p:spPr>
          <a:xfrm>
            <a:off x="548640" y="3566160"/>
            <a:ext cx="1965960" cy="914400"/>
          </a:xfrm>
          <a:prstGeom prst="rect">
            <a:avLst/>
          </a:prstGeom>
          <a:solidFill>
            <a:schemeClr val="bg1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5661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10. Conclusion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We spent most of our time on preprocessing and EDA (in orange), because the model can only be as good as the data we give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Cleaning the data (and why)</a:t>
            </a:r>
            <a:endParaRPr lang="en-US" sz="3200" dirty="0"/>
          </a:p>
        </p:txBody>
      </p:sp>
      <p:graphicFrame>
        <p:nvGraphicFramePr>
          <p:cNvPr id="6" name="pre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331720"/>
                <a:gridCol w="2560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did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categories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with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common value is the best guess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LoanAmount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with median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is skewed, median ignores big loans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columns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Yes/No to 1/0, one-hot for 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need numbers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outliers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them, used 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are real people, not errors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Loan_ID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an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52360" y="1325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Part of our code:</a:t>
            </a:r>
            <a:endParaRPr lang="en-US" sz="1400" dirty="0"/>
          </a:p>
        </p:txBody>
      </p:sp>
      <p:sp>
        <p:nvSpPr>
          <p:cNvPr id="5" name="code-snippet"/>
          <p:cNvSpPr txBox="1"/>
          <p:nvPr/>
        </p:nvSpPr>
        <p:spPr>
          <a:xfrm>
            <a:off x="7452360" y="1691640"/>
            <a:ext cx="4160520" cy="1828800"/>
          </a:xfrm>
          <a:prstGeom prst="rect">
            <a:avLst/>
          </a:prstGeom>
          <a:solidFill>
            <a:srgbClr val="F4F4F4"/>
          </a:solidFill>
          <a:ln w="9525">
            <a:solidFill>
              <a:srgbClr val="C8D0DA"/>
            </a:solidFill>
          </a:ln>
        </p:spPr>
        <p:txBody>
          <a:bodyPr wrap="square" lIns="76200" tIns="76200" rIns="76200" bIns="762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missing loan amounts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data["LoanAmount"] = data["LoanAmount"]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.fillna(data["LoanAmount"].median())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features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data["TotalIncome"] = data["ApplicantIncome"]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 data["CoapplicantIncome"]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data["EMI"] = data["LoanAmount"]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data["Loan_Amount_Term"]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data["Loan_to_Income"] = data["LoanAmount"]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data["TotalIncome"]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72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New features we made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9834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TotalIncome = applicant + co-applicant income (the family earns together)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EMI and Loan_to_Income, because a bank cares about whether you can repay, not just what you earn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we found in the data</a:t>
            </a:r>
            <a:endParaRPr lang="en-US" sz="3200" dirty="0"/>
          </a:p>
        </p:txBody>
      </p:sp>
      <p:pic>
        <p:nvPicPr>
          <p:cNvPr id="3" name="Image 0" descr="Approval rate by credit history: bad 8%, good 80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206240" cy="3341944"/>
          </a:xfrm>
          <a:prstGeom prst="rect">
            <a:avLst/>
          </a:prstGeom>
        </p:spPr>
      </p:pic>
      <p:pic>
        <p:nvPicPr>
          <p:cNvPr id="4" name="Image 1" descr="Histogram of log total income for approved and rejected applicants, which overl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280160"/>
            <a:ext cx="4206240" cy="277229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754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Credit history matters the most. With a good history 80% get approved, with a bad one only 8%.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120640" y="4754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 expected income to matter a lot, but approved and rejected people have almost the same income.</a:t>
            </a:r>
            <a:endParaRPr lang="en-US" sz="1400" dirty="0"/>
          </a:p>
        </p:txBody>
      </p:sp>
      <p:sp>
        <p:nvSpPr>
          <p:cNvPr id="7" name="eda-notes"/>
          <p:cNvSpPr/>
          <p:nvPr/>
        </p:nvSpPr>
        <p:spPr>
          <a:xfrm>
            <a:off x="9646920" y="1280160"/>
            <a:ext cx="1965960" cy="4297680"/>
          </a:xfrm>
          <a:prstGeom prst="rect">
            <a:avLst/>
          </a:prstGeom>
          <a:solidFill>
            <a:schemeClr val="bg2"/>
          </a:solidFill>
          <a:ln w="9525">
            <a:solidFill>
              <a:srgbClr val="C8D0D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9784080" y="14173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Other things we noticed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784080" y="2103120"/>
            <a:ext cx="1737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69% of loans are approved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Semiurban area has the highest approval (77%)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Income and loan amount have big outliers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Models we tried and results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Logistic Regression: simple and easy to explain, a good starting point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Decision Tree: works like a loan officer's yes/no rules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Random Forest: lots of trees voting, usually more stable</a:t>
            </a:r>
            <a:endParaRPr lang="en-US" sz="1500" dirty="0"/>
          </a:p>
        </p:txBody>
      </p:sp>
      <p:graphicFrame>
        <p:nvGraphicFramePr>
          <p:cNvPr id="8" name="resul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6400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822960"/>
                <a:gridCol w="777240"/>
                <a:gridCol w="1143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5-fold 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everyone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00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80/20 train-test split (123 test applications)</a:t>
            </a:r>
            <a:endParaRPr lang="en-US" sz="1200" dirty="0"/>
          </a:p>
        </p:txBody>
      </p:sp>
      <p:pic>
        <p:nvPicPr>
          <p:cNvPr id="6" name="Image 0" descr="Random Forest confusion matrix: 23 correct rejections, 15 wrongly approved, 1 wrongly rejected, 84 correct approv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325880"/>
            <a:ext cx="3291840" cy="30184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223760" y="4480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Random Forest did best. But its confusion matrix shows it approved 15 people who were actually rejected. So accuracy alone doesn't tell the full story.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we learned</a:t>
            </a:r>
            <a:endParaRPr lang="en-US" sz="3200" dirty="0"/>
          </a:p>
        </p:txBody>
      </p:sp>
      <p:pic>
        <p:nvPicPr>
          <p:cNvPr id="3" name="Image 0" descr="Random Forest feature importance, Credit_History highest at 0.4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03520" cy="338247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8006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Credit history alone is almost half of the model's decision, then loan-to-income and total income.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280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Conclusion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69164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Our Random Forest model predicts loan approval with 87% accuracy (81% with cross-validation), which is much better than just approving everyone (69%). The bank could use it to fast-track good applicants and send the rest for manual checking.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32918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Limitations and what we would improve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70332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Small dataset, only 614 rows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Fewer rejected cases, so the model misses some. Could use class weights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Depends a lot on credit history, which is unfair to first-time borrowers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CIBIL score or existing loans in the data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58064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Thank you! Questions?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 Project">
  <a:themeElements>
    <a:clrScheme name="Mini Project">
      <a:dk1>
        <a:srgbClr val="222222"/>
      </a:dk1>
      <a:lt1>
        <a:srgbClr val="FFFFFF"/>
      </a:lt1>
      <a:dk2>
        <a:srgbClr val="1F3A5F"/>
      </a:dk2>
      <a:lt2>
        <a:srgbClr val="F2F5F9"/>
      </a:lt2>
      <a:accent1>
        <a:srgbClr val="2A78D6"/>
      </a:accent1>
      <a:accent2>
        <a:srgbClr val="D9622B"/>
      </a:accent2>
      <a:accent3>
        <a:srgbClr val="1BAF7A"/>
      </a:accent3>
      <a:accent4>
        <a:srgbClr val="1C7293"/>
      </a:accent4>
      <a:accent5>
        <a:srgbClr val="666666"/>
      </a:accent5>
      <a:accent6>
        <a:srgbClr val="EDA100"/>
      </a:accent6>
      <a:hlink>
        <a:srgbClr val="2A78D6"/>
      </a:hlink>
      <a:folHlink>
        <a:srgbClr val="1C7293"/>
      </a:folHlink>
    </a:clrScheme>
    <a:fontScheme name="Mini Projec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Loan Approval Prediction</dc:title>
  <dc:subject>PptxGenJS Presentation</dc:subject>
  <dc:creator>Agamjot Singh Dhingra</dc:creator>
  <cp:lastModifiedBy>Agamjot Singh Dhingra</cp:lastModifiedBy>
  <cp:revision>1</cp:revision>
  <dcterms:created xsi:type="dcterms:W3CDTF">2026-10-18T14:42:27Z</dcterms:created>
  <dcterms:modified xsi:type="dcterms:W3CDTF">2026-10-18T14:42:27Z</dcterms:modified>
</cp:coreProperties>
</file>