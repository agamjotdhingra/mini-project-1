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a8c4bb1-631d-6e56-bcb7-6ccfe30ee49d}">
          <p14:sldIdLst>
            <p14:sldId id="256"/>
          </p14:sldIdLst>
        </p14:section>
        <p14:section name="Problem" id="{97dcee87-c2f5-c70b-0511-469d37257d3c}">
          <p14:sldIdLst>
            <p14:sldId id="257"/>
          </p14:sldIdLst>
        </p14:section>
        <p14:section name="Data" id="{97899d8e-8a3b-0301-7392-1d81b39ebb85}">
          <p14:sldIdLst>
            <p14:sldId id="258"/>
          </p14:sldIdLst>
        </p14:section>
        <p14:section name="Method" id="{f05e53f0-79d0-70fd-aabc-6d397b1e3b27}">
          <p14:sldIdLst>
            <p14:sldId id="259"/>
            <p14:sldId id="260"/>
          </p14:sldIdLst>
        </p14:section>
        <p14:section name="Results" id="{b7e3965b-0e22-ec4c-52ac-c295139f70af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HDFC Bank wants faster loan processing. We built an ML model that predicts if a loan application should be approved or rejected. Introduce group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things we wrote before coding: problem, objective, inputs and output. Since the output is a category, this is classification, not regression or clustering.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has 614 past applications. Before using it we checked columns, target, number of records, missing values, data types and outliers. 7 columns have missing values; Credit_History has the most. Target is imbalanced: 69%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complete pipeline, following the 10 steps. Preprocessing and EDA are highlighted as the teacher asked. Walk through each box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the question is not 'did I preprocess' but 'why did I preprocess this way'. Explain each row's reason. Then explain the 3 new features: a bank cares about the ability to repay, so loan size compared to income is more meaningful than raw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graph answers one question. Target chart shows imbalance. Credit history chart shows the strongest relationship (correlation 0.54 with Loan_Status). Property area matters a little. The income histogram in the notebook shows approved and rejected overlap, so income alone is not enough. Outlier boxplots and correlation heatmap are in the notebook/report.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these models: LogReg is the standard simple classifier, the Decision Tree mimics a loan officer's rules, Random Forest combines many trees. All beat the 69% baseline. Random Forest is best on accuracy (87%), F1 and cross-validation (81%). Precision = of loans we approved, how many were truly good (protects the bank). Recall = of good applicants, how many we approved (keeps customers). The confusion matrix shows the weakness: 15 risky applicants were wrongly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happened: Random Forest performed best. Why: credit history dominates (47% of importance), then loan-to-income and total income. So what: prediction → insight → decision; the bank can fast-track safe applicants. Mention limitations honestly. End with the conclusion and the GitHub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Loan Approval Prediction · HDFC Bank Ltd.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gamjotdhingra/MINIPROJECT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Loan Approval Prediction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Predicting Approved / Rejected loan applications for HDFC Bank Ltd. using supervised machine learning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AI Mini Project · Semester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Group members: ______________________________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GitHub: </a:t>
            </a:r>
            <a:pPr indent="0" marL="0">
              <a:buNone/>
            </a:pPr>
            <a:r>
              <a:rPr lang="en-US" sz="1400" u="sng" dirty="0">
                <a:solidFill>
                  <a:schemeClr val="bg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https://github.com/agamjotdhingra/MINIPROJECT1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1 — Defining the problem</a:t>
            </a:r>
            <a:endParaRPr lang="en-US" sz="3200" dirty="0"/>
          </a:p>
        </p:txBody>
      </p:sp>
      <p:sp>
        <p:nvSpPr>
          <p:cNvPr id="3" name="card-PROBLEM"/>
          <p:cNvSpPr/>
          <p:nvPr/>
        </p:nvSpPr>
        <p:spPr>
          <a:xfrm>
            <a:off x="548640" y="132588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Manual loan checking is slow and inconsistent. HDFC Bank wants to process applications faster.</a:t>
            </a:r>
            <a:endParaRPr lang="en-US" sz="1400" dirty="0"/>
          </a:p>
        </p:txBody>
      </p:sp>
      <p:sp>
        <p:nvSpPr>
          <p:cNvPr id="8" name="card-OBJECTIVE"/>
          <p:cNvSpPr/>
          <p:nvPr/>
        </p:nvSpPr>
        <p:spPr>
          <a:xfrm>
            <a:off x="4343400" y="132588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OBJECTIVE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model that predicts whether an application should be Approved or Rejected.</a:t>
            </a:r>
            <a:endParaRPr lang="en-US" sz="1400" dirty="0"/>
          </a:p>
        </p:txBody>
      </p:sp>
      <p:sp>
        <p:nvSpPr>
          <p:cNvPr id="13" name="card-INPUTS"/>
          <p:cNvSpPr/>
          <p:nvPr/>
        </p:nvSpPr>
        <p:spPr>
          <a:xfrm>
            <a:off x="548640" y="379476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INPUTS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09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Income, co-applicant income, loan amount &amp; term, credit history, employment, education, marital status, dependents, property area.</a:t>
            </a:r>
            <a:endParaRPr lang="en-US" sz="1400" dirty="0"/>
          </a:p>
        </p:txBody>
      </p:sp>
      <p:sp>
        <p:nvSpPr>
          <p:cNvPr id="18" name="card-OUTPUT"/>
          <p:cNvSpPr/>
          <p:nvPr/>
        </p:nvSpPr>
        <p:spPr>
          <a:xfrm>
            <a:off x="4343400" y="3794760"/>
            <a:ext cx="36118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4617720" y="40690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OUTPUT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709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Loan_Status → Approved (Y) or Rejected (N).</a:t>
            </a:r>
            <a:endParaRPr lang="en-US" sz="1400" dirty="0"/>
          </a:p>
        </p:txBody>
      </p:sp>
      <p:sp>
        <p:nvSpPr>
          <p:cNvPr id="23" name="why-classification"/>
          <p:cNvSpPr/>
          <p:nvPr/>
        </p:nvSpPr>
        <p:spPr>
          <a:xfrm>
            <a:off x="8275320" y="1325880"/>
            <a:ext cx="3337560" cy="47091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4964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ML type?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CLASSIFICATION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549640" y="301752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output is a category (Approved / Rejected), not a number.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We have past labelled examples → supervised learning.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Target variable: Loan_Status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2–3 — Dataset collection &amp; understanding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28016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loan applications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3364992" y="128016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93592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columns (12 inputs + target)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6181344" y="128016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9944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approved → imbalanced</a:t>
            </a:r>
            <a:endParaRPr lang="en-US" sz="1300" dirty="0"/>
          </a:p>
        </p:txBody>
      </p:sp>
      <p:sp>
        <p:nvSpPr>
          <p:cNvPr id="12" name="stat-3"/>
          <p:cNvSpPr/>
          <p:nvPr/>
        </p:nvSpPr>
        <p:spPr>
          <a:xfrm>
            <a:off x="8997696" y="128016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26296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duplicate rows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34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Source: Loan Prediction Dataset (Kaggle / Analytics Vidhya) — public GitHub copy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Personal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291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Gender, Married, Dependents, Education, Self_Employed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416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Financial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0416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ApplicantIncome, CoapplicantIncome, LoanAmount, Loan_Amount_Term, Credit_History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914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47914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Property_Area (Urban / Semiurban / Rural)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4126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Target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541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Loan_Status (Y / N)</a:t>
            </a:r>
            <a:endParaRPr lang="en-US" sz="1400" dirty="0"/>
          </a:p>
        </p:txBody>
      </p:sp>
      <p:pic>
        <p:nvPicPr>
          <p:cNvPr id="24" name="Image 0" descr="Bar chart of missing values per column: Credit_History 50, Self_Employed 32, LoanAmount 22, Dependents 15, Loan_Amount_Term 14, Gender 13, Married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834640"/>
            <a:ext cx="5120640" cy="33558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workflow (flow diagram)</a:t>
            </a:r>
            <a:endParaRPr lang="en-US" sz="3200" dirty="0"/>
          </a:p>
        </p:txBody>
      </p:sp>
      <p:sp>
        <p:nvSpPr>
          <p:cNvPr id="3" name="step-1"/>
          <p:cNvSpPr/>
          <p:nvPr/>
        </p:nvSpPr>
        <p:spPr>
          <a:xfrm>
            <a:off x="548640" y="141732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Problem Definition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 / reject = classification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51176" y="2080260"/>
            <a:ext cx="237744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step-2"/>
          <p:cNvSpPr/>
          <p:nvPr/>
        </p:nvSpPr>
        <p:spPr>
          <a:xfrm>
            <a:off x="2825496" y="141732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08376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08376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Collection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08376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Kaggle loan dataset, 614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28032" y="2080260"/>
            <a:ext cx="237744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3" name="step-3"/>
          <p:cNvSpPr/>
          <p:nvPr/>
        </p:nvSpPr>
        <p:spPr>
          <a:xfrm>
            <a:off x="5102352" y="141732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85232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Understanding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Shape, types, missing, target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04888" y="2080260"/>
            <a:ext cx="237744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step-4"/>
          <p:cNvSpPr/>
          <p:nvPr/>
        </p:nvSpPr>
        <p:spPr>
          <a:xfrm>
            <a:off x="7379208" y="141732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62088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562088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62088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Impute, encode, scale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81744" y="2080260"/>
            <a:ext cx="237744" cy="27432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3" name="step-5"/>
          <p:cNvSpPr/>
          <p:nvPr/>
        </p:nvSpPr>
        <p:spPr>
          <a:xfrm>
            <a:off x="9656064" y="141732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38944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838944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Visualization / EDA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3894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6 question-driven charts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56164" y="3246120"/>
            <a:ext cx="365760" cy="502920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28" name="step-6"/>
          <p:cNvSpPr/>
          <p:nvPr/>
        </p:nvSpPr>
        <p:spPr>
          <a:xfrm>
            <a:off x="9656064" y="39776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38944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838944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38944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TotalIncome, EMI, Loan-to-Income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81744" y="4640580"/>
            <a:ext cx="237744" cy="274320"/>
          </a:xfrm>
          <a:prstGeom prst="leftArrow">
            <a:avLst/>
          </a:prstGeom>
          <a:solidFill>
            <a:schemeClr val="accent5"/>
          </a:solidFill>
          <a:ln/>
        </p:spPr>
      </p:sp>
      <p:sp>
        <p:nvSpPr>
          <p:cNvPr id="33" name="step-7"/>
          <p:cNvSpPr/>
          <p:nvPr/>
        </p:nvSpPr>
        <p:spPr>
          <a:xfrm>
            <a:off x="7379208" y="39776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562088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562088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 Development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562088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LogReg · Decision Tree · Random Forest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04888" y="4640580"/>
            <a:ext cx="237744" cy="274320"/>
          </a:xfrm>
          <a:prstGeom prst="leftArrow">
            <a:avLst/>
          </a:prstGeom>
          <a:solidFill>
            <a:schemeClr val="accent5"/>
          </a:solidFill>
          <a:ln/>
        </p:spPr>
      </p:sp>
      <p:sp>
        <p:nvSpPr>
          <p:cNvPr id="38" name="step-8"/>
          <p:cNvSpPr/>
          <p:nvPr/>
        </p:nvSpPr>
        <p:spPr>
          <a:xfrm>
            <a:off x="5102352" y="39776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85232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285232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285232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Accuracy, Precision, Recall, F1, CV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28032" y="4640580"/>
            <a:ext cx="237744" cy="274320"/>
          </a:xfrm>
          <a:prstGeom prst="leftArrow">
            <a:avLst/>
          </a:prstGeom>
          <a:solidFill>
            <a:schemeClr val="accent5"/>
          </a:solidFill>
          <a:ln/>
        </p:spPr>
      </p:sp>
      <p:sp>
        <p:nvSpPr>
          <p:cNvPr id="43" name="step-9"/>
          <p:cNvSpPr/>
          <p:nvPr/>
        </p:nvSpPr>
        <p:spPr>
          <a:xfrm>
            <a:off x="2825496" y="39776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008376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3008376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3008376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Feature importance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551176" y="4640580"/>
            <a:ext cx="237744" cy="274320"/>
          </a:xfrm>
          <a:prstGeom prst="leftArrow">
            <a:avLst/>
          </a:prstGeom>
          <a:solidFill>
            <a:schemeClr val="accent5"/>
          </a:solidFill>
          <a:ln/>
        </p:spPr>
      </p:sp>
      <p:sp>
        <p:nvSpPr>
          <p:cNvPr id="48" name="step-10"/>
          <p:cNvSpPr/>
          <p:nvPr/>
        </p:nvSpPr>
        <p:spPr>
          <a:xfrm>
            <a:off x="548640" y="39776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31520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4480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937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Best model + limitations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Highlighted: preprocessing and visualization — the steps that shape the data before modelling.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4 &amp; 6 — Preprocessing and feature engineering</a:t>
            </a:r>
            <a:endParaRPr lang="en-US" sz="3200" dirty="0"/>
          </a:p>
        </p:txBody>
      </p:sp>
      <p:graphicFrame>
        <p:nvGraphicFramePr>
          <p:cNvPr id="6" name="pre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5146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value; few rows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LoanAmount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data — median ignores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Yes/No → 1/0, Property_Area one-hot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need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outliers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+ log transform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high earners, not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scales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 (LogReg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don't need 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an ID, no 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Ask: “Can the raw variables represent the problem well?”</a:t>
            </a:r>
            <a:endParaRPr lang="en-US" sz="1500" dirty="0"/>
          </a:p>
        </p:txBody>
      </p:sp>
      <p:sp>
        <p:nvSpPr>
          <p:cNvPr id="5" name="feat-TotalIncome"/>
          <p:cNvSpPr/>
          <p:nvPr/>
        </p:nvSpPr>
        <p:spPr>
          <a:xfrm>
            <a:off x="7680960" y="210312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09560" y="2212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TotalIncome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Applicant + co-applicant income = household income</a:t>
            </a:r>
            <a:endParaRPr lang="en-US" sz="1300" dirty="0"/>
          </a:p>
        </p:txBody>
      </p:sp>
      <p:sp>
        <p:nvSpPr>
          <p:cNvPr id="8" name="feat-EMI"/>
          <p:cNvSpPr/>
          <p:nvPr/>
        </p:nvSpPr>
        <p:spPr>
          <a:xfrm>
            <a:off x="7680960" y="320040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0956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EMI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LoanAmount ÷ Term = monthly repayment burden</a:t>
            </a:r>
            <a:endParaRPr lang="en-US" sz="1300" dirty="0"/>
          </a:p>
        </p:txBody>
      </p:sp>
      <p:sp>
        <p:nvSpPr>
          <p:cNvPr id="11" name="feat-Loan_to_Income"/>
          <p:cNvSpPr/>
          <p:nvPr/>
        </p:nvSpPr>
        <p:spPr>
          <a:xfrm>
            <a:off x="7680960" y="4297680"/>
            <a:ext cx="39319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09560" y="4407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Loan_to_Income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LoanAmount ÷ TotalIncome = how big the loan is vs income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5440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Removed raw income columns after creating these → avoids redundant features.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5 — EDA: what the data tells us</a:t>
            </a:r>
            <a:endParaRPr lang="en-US" sz="3200" dirty="0"/>
          </a:p>
        </p:txBody>
      </p:sp>
      <p:pic>
        <p:nvPicPr>
          <p:cNvPr id="3" name="Image 0" descr="Target: 422 approved vs 192 rej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611880" cy="3099816"/>
          </a:xfrm>
          <a:prstGeom prst="rect">
            <a:avLst/>
          </a:prstGeom>
        </p:spPr>
      </p:pic>
      <p:pic>
        <p:nvPicPr>
          <p:cNvPr id="4" name="Image 1" descr="Approval rate by credit history: bad 8%, good 80%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80160"/>
            <a:ext cx="3611880" cy="3099816"/>
          </a:xfrm>
          <a:prstGeom prst="rect">
            <a:avLst/>
          </a:prstGeom>
        </p:spPr>
      </p:pic>
      <p:pic>
        <p:nvPicPr>
          <p:cNvPr id="5" name="Image 2" descr="Approval rate by property area: rural 61%, semiurban 77%, urban 66%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80160"/>
            <a:ext cx="3611880" cy="309981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5720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Imbalanced: approving everyone already gives 69% accuracy — our model must beat that.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4434840" y="45720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Strongest signal: good credit history → 80% approved, bad → only 8%.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8183880" y="45720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Semiurban applicants are approved most often; rural least.</a:t>
            </a:r>
            <a:endParaRPr lang="en-US" sz="1400" dirty="0"/>
          </a:p>
        </p:txBody>
      </p:sp>
      <p:sp>
        <p:nvSpPr>
          <p:cNvPr id="9" name="eda-insight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777240" y="5486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Surprise: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approved and rejected applicants have almost the same income distribution — income alone does not decide approval.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7–8 — Model development &amp; evaluation</a:t>
            </a:r>
            <a:endParaRPr lang="en-US" sz="3200" dirty="0"/>
          </a:p>
        </p:txBody>
      </p:sp>
      <p:sp>
        <p:nvSpPr>
          <p:cNvPr id="3" name="model-0"/>
          <p:cNvSpPr/>
          <p:nvPr/>
        </p:nvSpPr>
        <p:spPr>
          <a:xfrm>
            <a:off x="548640" y="1280160"/>
            <a:ext cx="2148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Simple, explainable baseline for yes/no</a:t>
            </a:r>
            <a:endParaRPr lang="en-US" sz="1300" dirty="0"/>
          </a:p>
        </p:txBody>
      </p:sp>
      <p:sp>
        <p:nvSpPr>
          <p:cNvPr id="6" name="model-1"/>
          <p:cNvSpPr/>
          <p:nvPr/>
        </p:nvSpPr>
        <p:spPr>
          <a:xfrm>
            <a:off x="2834640" y="1280160"/>
            <a:ext cx="2148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Decision Tree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If-then rules, like a loan officer</a:t>
            </a:r>
            <a:endParaRPr lang="en-US" sz="1300" dirty="0"/>
          </a:p>
        </p:txBody>
      </p:sp>
      <p:sp>
        <p:nvSpPr>
          <p:cNvPr id="9" name="model-2"/>
          <p:cNvSpPr/>
          <p:nvPr/>
        </p:nvSpPr>
        <p:spPr>
          <a:xfrm>
            <a:off x="5120640" y="1280160"/>
            <a:ext cx="2148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Many trees vote → more stable</a:t>
            </a:r>
            <a:endParaRPr lang="en-US" sz="1300" dirty="0"/>
          </a:p>
        </p:txBody>
      </p:sp>
      <p:graphicFrame>
        <p:nvGraphicFramePr>
          <p:cNvPr id="8" name="metr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6720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960120"/>
                <a:gridCol w="960120"/>
                <a:gridCol w="868680"/>
                <a:gridCol w="822960"/>
                <a:gridCol w="1143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C4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F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(approve 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5F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07492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80/20 stratified train-test split · metrics on the test set (123 applicants)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486400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Never trust one number: accuracy is high, but check the confusion matrix →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Confusion matrix — Random Forest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Predicted →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Rejected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24128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Approved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2697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Actual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Rejected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4160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Actual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Approved</a:t>
            </a:r>
            <a:endParaRPr lang="en-US" sz="1200" dirty="0"/>
          </a:p>
        </p:txBody>
      </p:sp>
      <p:sp>
        <p:nvSpPr>
          <p:cNvPr id="21" name="cm-00"/>
          <p:cNvSpPr/>
          <p:nvPr/>
        </p:nvSpPr>
        <p:spPr>
          <a:xfrm>
            <a:off x="8778240" y="2286000"/>
            <a:ext cx="13716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7824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Correct reject</a:t>
            </a:r>
            <a:endParaRPr lang="en-US" sz="1100" dirty="0"/>
          </a:p>
        </p:txBody>
      </p:sp>
      <p:sp>
        <p:nvSpPr>
          <p:cNvPr id="24" name="cm-01"/>
          <p:cNvSpPr/>
          <p:nvPr/>
        </p:nvSpPr>
        <p:spPr>
          <a:xfrm>
            <a:off x="10241280" y="2286000"/>
            <a:ext cx="1371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24128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102870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Wrongly approved</a:t>
            </a:r>
            <a:endParaRPr lang="en-US" sz="1100" dirty="0"/>
          </a:p>
        </p:txBody>
      </p:sp>
      <p:sp>
        <p:nvSpPr>
          <p:cNvPr id="27" name="cm-10"/>
          <p:cNvSpPr/>
          <p:nvPr/>
        </p:nvSpPr>
        <p:spPr>
          <a:xfrm>
            <a:off x="8778240" y="3749040"/>
            <a:ext cx="1371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77824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Wrongly rejected</a:t>
            </a:r>
            <a:endParaRPr lang="en-US" sz="1100" dirty="0"/>
          </a:p>
        </p:txBody>
      </p:sp>
      <p:sp>
        <p:nvSpPr>
          <p:cNvPr id="30" name="cm-11"/>
          <p:cNvSpPr/>
          <p:nvPr/>
        </p:nvSpPr>
        <p:spPr>
          <a:xfrm>
            <a:off x="10241280" y="3749040"/>
            <a:ext cx="137160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24128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10287000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Correct approve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680960" y="5349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Approves 84 of 85 good applicants, but catches only 23 of 38 rejections.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9 — Interpretation, limitations &amp; conclusion</a:t>
            </a:r>
            <a:endParaRPr lang="en-US" sz="3200" dirty="0"/>
          </a:p>
        </p:txBody>
      </p:sp>
      <p:pic>
        <p:nvPicPr>
          <p:cNvPr id="3" name="Image 0" descr="Feature importance: Credit_History 0.47, Loan_to_Income 0.12, TotalIncome_log 0.11, EMI 0.09, LoanAmount_log 0.07, Loan_Amount_Term 0.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120640" cy="3529584"/>
          </a:xfrm>
          <a:prstGeom prst="rect">
            <a:avLst/>
          </a:prstGeom>
        </p:spPr>
      </p:pic>
      <p:sp>
        <p:nvSpPr>
          <p:cNvPr id="4" name="so-what"/>
          <p:cNvSpPr/>
          <p:nvPr/>
        </p:nvSpPr>
        <p:spPr>
          <a:xfrm>
            <a:off x="548640" y="4983480"/>
            <a:ext cx="51206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0749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So what?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Good credit history can be fast-tracked; others go to manual review. The model is a first-level screening tool for loan officers — not a replacement.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 → improvements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7830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dataset (614 rows) → collect more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Imbalanced target misses rejections → class weights / SMOTE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Over-reliance on credit history → unfair to first-time borrowers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CIBIL score, existing debts or age → add these features</a:t>
            </a:r>
            <a:endParaRPr lang="en-US" sz="1400" dirty="0"/>
          </a:p>
        </p:txBody>
      </p:sp>
      <p:sp>
        <p:nvSpPr>
          <p:cNvPr id="8" name="conclusion"/>
          <p:cNvSpPr/>
          <p:nvPr/>
        </p:nvSpPr>
        <p:spPr>
          <a:xfrm>
            <a:off x="6126480" y="4069080"/>
            <a:ext cx="5486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46634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Random Forest predicts loan approval with 87% test accuracy (81% cross-validated), well above the 69% baseline. Credit history is the deciding factor, followed by loan size relative to income.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an Approval">
  <a:themeElements>
    <a:clrScheme name="Loan Approval">
      <a:dk1>
        <a:srgbClr val="1A1A1A"/>
      </a:dk1>
      <a:lt1>
        <a:srgbClr val="FFFFFF"/>
      </a:lt1>
      <a:dk2>
        <a:srgbClr val="0F2C4C"/>
      </a:dk2>
      <a:lt2>
        <a:srgbClr val="EEF3F8"/>
      </a:lt2>
      <a:accent1>
        <a:srgbClr val="2A78D6"/>
      </a:accent1>
      <a:accent2>
        <a:srgbClr val="EB6834"/>
      </a:accent2>
      <a:accent3>
        <a:srgbClr val="1BAF7A"/>
      </a:accent3>
      <a:accent4>
        <a:srgbClr val="1C7293"/>
      </a:accent4>
      <a:accent5>
        <a:srgbClr val="5F6B78"/>
      </a:accent5>
      <a:accent6>
        <a:srgbClr val="EDA100"/>
      </a:accent6>
      <a:hlink>
        <a:srgbClr val="2A78D6"/>
      </a:hlink>
      <a:folHlink>
        <a:srgbClr val="1C7293"/>
      </a:folHlink>
    </a:clrScheme>
    <a:fontScheme name="Loan Approv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Prediction</dc:title>
  <dc:subject>PptxGenJS Presentation</dc:subject>
  <dc:creator>Agamjot Dhingra</dc:creator>
  <cp:lastModifiedBy>Agamjot Dhingra</cp:lastModifiedBy>
  <cp:revision>1</cp:revision>
  <dcterms:created xsi:type="dcterms:W3CDTF">2026-10-17T19:39:36Z</dcterms:created>
  <dcterms:modified xsi:type="dcterms:W3CDTF">2026-10-17T19:39:36Z</dcterms:modified>
</cp:coreProperties>
</file>